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We're Pluto Jacks, NAU's 2025-2026 ASCE Concrete Canoe team. Five members. Today we present our 30%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design and build a concrete canoe per ASCE rules. Competing in Salt Lake City at University of Utah. Five-member team from NAU Civil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1-2 complete. Task 3 hull design at 60%. We ARE behind our original schedule but we've adjusted the timeline. Critical path is hull design finalization.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team member read the full ASCE 2026 RFP. Key constraints: 6-inch freeboard minimum, density must be below 62.4 PCF (water), only approved non-metallic reinforcement.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created personalized video pitches for sponsors. Oxendale Auto Group and CSEM have confirmed. We're continuing outreach.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Safety is paramount. Main hazards: alkaline burns from wet concrete, silica dust from perlite and fly ash, heavy lifting. All members trained, safety binder on-site.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aggregates evaluated. The key is specific gravity. Low SG = lighter canoe = easier to float. Perlite and K1 microspheres at 0.125 are our primary lightweight aggregates.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ASTM test methods guide our material characterization. Each test gives us a specific property we need for the design. C138 density is the most critical -- we need to be below 62.4 PCF.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ASTM C39 is the gold standard for compressive strength. We use 4x8 cylinders in the Humboldt machine. Load until failure and compute f'c = P/A.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Slump test measures workability. For a thin-shell canoe, we need 4-7 inches of slump. Too stiff and we can't fill the mold; too fluid and aggregates segregate.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Density is our most critical measurement. 62.4 PCF is water's density -- we must be below this. Our target is 55-65 PCF: light enough to float, dense enough for strength.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Sieve analysis gives us particle size distribution. A well-graded blend reduces voids, meaning we need less cement paste. This helps keep density low while maintaining packing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 is weak in tension, about 10% of its compressive strength. The bottom of the canoe hull is in tension when paddlers sit on it, so tensile strength and fiber reinforcement are critical.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 said show proof not just results. This slide shows our actual lab work -- batching, casting cylinders, and testing. Dust masks are essential for perlite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process: three precursor mixes from literature, three lab trial mixes, then a weighted decision matrix to select the best. This ensures a data-driven, defensible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Mix 1 was our high-strength baseline. Excellent compressive strength at 3,116 psi, but density of 78.4 PCF is way above the 62.4 threshold. This canoe would sink.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Mix 2 added slag cement. Workability improved slightly, but density got WORSE at 83.6 PCF. This taught us that to fix density, we need to change the aggregates, not just the 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breakthrough. Portland cement cut in half, added fly ash, increased perlite and K1. Density dropped to 58.6 PCF -- below 62.4. This mix FLOATS. Compressive at 307 psi meets our minimum. 6-inch slump is excellent workability.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matrix with density weighted at 30% because floating is non-negotiable. Mix 2 scores highest at 73.53, Mix 3 close at 70.07. Both have strengths we want to combine.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Going forward: optimize Mix 2 by incorporating Mix 3's aggregate ratios. The goal is to get the best of both -- workability from slag cement and low density from ultralight aggregates.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ASCE requires 6-inch minimum freeboard and adequate stability. Our 216x36x18 design gives 12.82 inches of freeboard -- double the minimum -- and a safety factor of 6.39. Full shear/moment diagrams at 60%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Free body diagram showing distributed loading, buoyancy, and crew weight. Section properties computed using parallel axis theorem for the U-shell cross section. Full analysis coming at 60%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SolidWorks 3D model showing full dimensions of our 216x36x18 inch hull design. The model is used for volume calculations, mold design, and construction drawings.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 for all standards, codes, and textbooks cited in this presentation. ACI 318-25 is the primary structural code. ASCE 2026 RFP governs all competition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914400"/>
            <a:ext cx="85340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Calibri"/>
              </a:defRPr>
            </a:pPr>
            <a:r>
              <a:t>PLUTO JACKS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D4A843"/>
                </a:solidFill>
                <a:latin typeface="Calibri"/>
              </a:defRPr>
            </a:pPr>
            <a:r>
              <a:t>NAU ASCE Concrete Canoe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FFFFFF"/>
                </a:solidFill>
                <a:latin typeface="Calibri"/>
              </a:defRPr>
            </a:pPr>
            <a:r>
              <a:t>CENE 476 Capstone  --  30% Design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566160"/>
            <a:ext cx="67052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February 10,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Team:  Trevion  |  Kayleigh  |  Amit  |  Jon  |  Theo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D4A843"/>
                </a:solidFill>
                <a:latin typeface="Calibri"/>
              </a:defRPr>
            </a:pPr>
            <a:r>
              <a:t>Advisors:  Dr. Lamer PE  |  Taylor Layland 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999999"/>
                </a:solidFill>
                <a:latin typeface="Calibri"/>
              </a:defRPr>
            </a:pPr>
            <a:r>
              <a:t>Speaker: Theo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Project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Design and build a concrete canoe per ASCE 2026 rules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National competition: Salt Lake City, University of Utah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Four event categories: Technical Paper, Oral Presentation, Final Product, Racing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Team of 5 undergraduate civil engineers at Northern Arizona University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Faculty Advisor: Dr. Lamer PE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Graduate Instructor: Taylor Layland PE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645920"/>
            <a:ext cx="3657600" cy="3200400"/>
          </a:xfrm>
          <a:prstGeom prst="rect">
            <a:avLst/>
          </a:prstGeom>
          <a:solidFill>
            <a:srgbClr val="F0F0F0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[Team Photo Placeholder]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Speaker: Theo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Project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7729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029200"/>
                <a:gridCol w="2743200"/>
                <a:gridCol w="2133295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Progress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Task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Project Research &amp; Safety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Task 2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Material Testing &amp; Mix Selection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COMPLETE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Task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Hull Design &amp; Structural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 PROGRESS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Task 4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Construction &amp; Fabrication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NOT STARTED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Task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Finishing &amp; Competition Prep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NOT STARTED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0624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CC0000"/>
                </a:solidFill>
                <a:latin typeface="Calibri"/>
              </a:defRPr>
            </a:pPr>
            <a:r>
              <a:t>Honest Assessment: We are behind our original schedule.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4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Original plan had Task 3 complete by Feb 1 -- revised to Feb 28</a:t>
            </a:r>
          </a:p>
          <a:p>
            <a:pPr>
              <a:spcAft>
                <a:spcPts val="74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Critical path: Hull design must finalize before mold construction begins</a:t>
            </a:r>
          </a:p>
          <a:p>
            <a:pPr>
              <a:spcAft>
                <a:spcPts val="74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Mitigation: Increased meeting frequency to 3x/week; parallel-tracking mix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Speaker: Jon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Task 1.1: Project Research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ASCE 2026 RFP reviewed cover to cover by all team members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Key dimensional constraints: maximum 24 ft length, must accommodate 4 paddlers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Minimum 6 inches of freeboard with 4 paddlers aboard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Density limitations: concrete must float (&lt; 62.4 PCF)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Reinforcement: only ASCE-approved fiber or mesh reinforcement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No metallic reinforcement (rebar, wire mesh) permitted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Sustainability scoring included for first time in 2026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Each team member assigned specific rule sections for deep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Speaker: Kayleigh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Task 1.2: Sponsorships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Created personalized outreach videos for each potential sponsor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Highlighted NAU engineering program and competition visibility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Sponsors receive logo placement on canoe and in technical paper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840480"/>
            <a:ext cx="3200400" cy="164592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Oxendale Auto Group</a:t>
            </a:r>
          </a:p>
          <a:p>
            <a:pPr algn="ctr">
              <a:defRPr sz="1600" b="1">
                <a:solidFill>
                  <a:srgbClr val="D4A843"/>
                </a:solidFill>
              </a:defRPr>
            </a:pPr>
            <a:r>
              <a:t>CONFIRMED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840480"/>
            <a:ext cx="3200400" cy="164592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CSEM</a:t>
            </a:r>
          </a:p>
          <a:p>
            <a:pPr algn="ctr">
              <a:defRPr sz="1600" b="1">
                <a:solidFill>
                  <a:srgbClr val="D4A843"/>
                </a:solidFill>
              </a:defRPr>
            </a:pPr>
            <a:r>
              <a:t>CONFIRMED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840480"/>
            <a:ext cx="3200400" cy="16459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33333"/>
                </a:solidFill>
              </a:defRPr>
            </a:pPr>
            <a:r>
              <a:t>Additional Sponsors</a:t>
            </a:r>
          </a:p>
          <a:p>
            <a:pPr algn="ctr">
              <a:defRPr sz="1600" b="1">
                <a:solidFill>
                  <a:srgbClr val="666666"/>
                </a:solidFill>
              </a:defRPr>
            </a:pPr>
            <a:r>
              <a:t>In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Speaker: Kayleigh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Task 1.3: Lab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Compiled comprehensive safety binder with all SDS sheets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Met with lab manager to review emergency procedures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All team members completed NAU lab safety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B365D"/>
                </a:solidFill>
                <a:latin typeface="Calibri"/>
              </a:defRPr>
            </a:pPr>
            <a:r>
              <a:t>Identified Hazards: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40"/>
              </a:spcAft>
              <a:defRPr sz="1800" b="1">
                <a:solidFill>
                  <a:srgbClr val="CC0000"/>
                </a:solidFill>
                <a:latin typeface="Calibri"/>
              </a:defRPr>
            </a:pPr>
            <a:r>
              <a:t>• Alkaline burns from fresh concrete (pH ~12-13)</a:t>
            </a:r>
          </a:p>
          <a:p>
            <a:pPr>
              <a:spcAft>
                <a:spcPts val="740"/>
              </a:spcAft>
              <a:defRPr sz="1800" b="1">
                <a:solidFill>
                  <a:srgbClr val="CC0000"/>
                </a:solidFill>
                <a:latin typeface="Calibri"/>
              </a:defRPr>
            </a:pPr>
            <a:r>
              <a:t>• Silica dust inhalation (perlite, fly ash)</a:t>
            </a:r>
          </a:p>
          <a:p>
            <a:pPr>
              <a:spcAft>
                <a:spcPts val="740"/>
              </a:spcAft>
              <a:defRPr sz="1800" b="1">
                <a:solidFill>
                  <a:srgbClr val="CC0000"/>
                </a:solidFill>
                <a:latin typeface="Calibri"/>
              </a:defRPr>
            </a:pPr>
            <a:r>
              <a:t>• Heavy lifting: mold sections weigh 50+ lbs</a:t>
            </a:r>
          </a:p>
          <a:p>
            <a:pPr>
              <a:spcAft>
                <a:spcPts val="74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• Eye protection required during mixing and 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029200" cy="4389120"/>
          </a:xfrm>
          <a:prstGeom prst="roundRect">
            <a:avLst/>
          </a:prstGeom>
          <a:solidFill>
            <a:srgbClr val="F5F0E0"/>
          </a:solidFill>
          <a:ln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B365D"/>
                </a:solidFill>
              </a:defRPr>
            </a:pPr>
            <a:r>
              <a:t>Required PPE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Safety glasses / goggles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Nitrile gloves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N95 dust masks (perlite mixing)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Closed-toe shoes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Long sleeves during pours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Speaker: Kayleigh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Task 2.1: Material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D4A843"/>
                </a:solidFill>
                <a:latin typeface="Calibri"/>
              </a:defRPr>
            </a:pPr>
            <a:r>
              <a:t>KEY SLIDE -- Aggregate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B365D"/>
                </a:solidFill>
                <a:latin typeface="Calibri"/>
              </a:defRPr>
            </a:pPr>
            <a:r>
              <a:t>Specific gravity is the key metric: lower SG = lighter canoe = easier to float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920240"/>
          <a:ext cx="112772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2743200"/>
                <a:gridCol w="2590495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Aggregate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Specific Gravity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Perlite</a:t>
                      </a:r>
                    </a:p>
                  </a:txBody>
                  <a:tcPr anchor="ctr">
                    <a:solidFill>
                      <a:srgbClr val="FDF5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0.125</a:t>
                      </a:r>
                    </a:p>
                  </a:txBody>
                  <a:tcPr anchor="ctr">
                    <a:solidFill>
                      <a:srgbClr val="FDF5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Volcanic glass</a:t>
                      </a:r>
                    </a:p>
                  </a:txBody>
                  <a:tcPr anchor="ctr">
                    <a:solidFill>
                      <a:srgbClr val="FDF5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SELECTED</a:t>
                      </a:r>
                    </a:p>
                  </a:txBody>
                  <a:tcPr anchor="ctr">
                    <a:solidFill>
                      <a:srgbClr val="FDF5E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K1 Microspheres</a:t>
                      </a:r>
                    </a:p>
                  </a:txBody>
                  <a:tcPr anchor="ctr">
                    <a:solidFill>
                      <a:srgbClr val="FDF5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0.125</a:t>
                      </a:r>
                    </a:p>
                  </a:txBody>
                  <a:tcPr anchor="ctr">
                    <a:solidFill>
                      <a:srgbClr val="FDF5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Cenospheres</a:t>
                      </a:r>
                    </a:p>
                  </a:txBody>
                  <a:tcPr anchor="ctr">
                    <a:solidFill>
                      <a:srgbClr val="FDF5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SELECTED</a:t>
                      </a:r>
                    </a:p>
                  </a:txBody>
                  <a:tcPr anchor="ctr">
                    <a:solidFill>
                      <a:srgbClr val="FDF5E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Poraver</a:t>
                      </a:r>
                    </a:p>
                  </a:txBody>
                  <a:tcPr anchor="ctr">
                    <a:solidFill>
                      <a:srgbClr val="FDF5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0.296</a:t>
                      </a:r>
                    </a:p>
                  </a:txBody>
                  <a:tcPr anchor="ctr">
                    <a:solidFill>
                      <a:srgbClr val="FDF5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Expanded glass</a:t>
                      </a:r>
                    </a:p>
                  </a:txBody>
                  <a:tcPr anchor="ctr">
                    <a:solidFill>
                      <a:srgbClr val="FDF5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CANDIDATE</a:t>
                      </a:r>
                    </a:p>
                  </a:txBody>
                  <a:tcPr anchor="ctr">
                    <a:solidFill>
                      <a:srgbClr val="FDF5E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Pumice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0.641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Volcanic rock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EVALUATED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Expanded Shale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Lightweight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REJECTED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Natural Sand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2.65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Standard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Limestone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Standard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Gravel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2.75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Standard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666666"/>
                </a:solidFill>
                <a:latin typeface="Calibri"/>
              </a:defRPr>
            </a:pPr>
            <a:r>
              <a:t>Top 3 aggregates (SG &lt; 1.0) are ultralight -- bottom 4 (SG &gt; 1.0) would make the canoe sink.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Speaker: Theo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Task 2.2: ASTM Testing Standards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772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3200400"/>
                <a:gridCol w="3047695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ASTM Standard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Name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Measures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It Matters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Compressive Strength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Max load before crushing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Structural capacity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C143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Slump Test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Workability / consistency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Thin-shell placement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Unit Weight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Wet density (PCF)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Must float (&lt; 62.4)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C136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Sieve Analysis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Particle size distribution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Aggregate grading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C496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Split Tensile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Indirect tensile strength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Bottom of canoe in tension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C685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Volumetric Batching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Consistent mix production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Repeatability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666666"/>
                </a:solidFill>
                <a:latin typeface="Calibri"/>
              </a:defRPr>
            </a:pPr>
            <a:r>
              <a:t>All tests performed following ASTM procedures in NAU Concrete Lab.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Speaker: Theo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ASTM C39: Compressive Strength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Standard test for compressive strength of cylindrical concrete specimens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Equipment: Humboldt compression testing machine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Specimen: 4" diameter x 8" tall cylinders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Load applied at constant rate until failure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Failure mode: typically cone or shear fracture pattern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Results determine if our mix can handle structural loads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Minimum target: 250 psi at 7 days for thin-shell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4572000"/>
            <a:ext cx="3931920" cy="137160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4A843"/>
                </a:solidFill>
              </a:defRPr>
            </a:pPr>
            <a:r>
              <a:t>Key Equation</a:t>
            </a:r>
          </a:p>
          <a:p>
            <a:pPr algn="ctr">
              <a:defRPr sz="2200" b="1">
                <a:solidFill>
                  <a:srgbClr val="FFFFFF"/>
                </a:solidFill>
              </a:defRPr>
            </a:pPr>
            <a:r>
              <a:t>f'c = P / A</a:t>
            </a:r>
          </a:p>
          <a:p>
            <a:pPr algn="ctr">
              <a:defRPr sz="1400">
                <a:solidFill>
                  <a:srgbClr val="BBBBBB"/>
                </a:solidFill>
              </a:defRPr>
            </a:pPr>
            <a:r>
              <a:t>(load / cross-section area)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Speaker: Amit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ASTM C143: Slump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Measures workability and consistency of fresh concrete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Fill cone in 3 layers, rod each layer 25 times, lift cone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Measure how much the concrete 'slumps' downward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Target range for canoe: 4-7 inches (fluid enough for thin shell)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Too low (&lt;3"): won't fill thin mold sections properly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Too high (&gt;8"): mix may segregate, aggregates settle out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Thin-shell application demands precise workability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Speaker: Kayleigh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ASTM C138: Unit Weight (Density)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D4A843"/>
                </a:solidFill>
                <a:latin typeface="Calibri"/>
              </a:defRPr>
            </a:pPr>
            <a:r>
              <a:t>CRITICAL MEASUREMENT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CC0000"/>
                </a:solidFill>
                <a:latin typeface="Calibri"/>
              </a:defRPr>
            </a:pPr>
            <a:r>
              <a:t>THE MOST CRITICAL TEST: Density must be below 62.4 PCF to float.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4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Measures wet (fresh) density of concrete in pounds per cubic foot (PCF)</a:t>
            </a:r>
          </a:p>
          <a:p>
            <a:pPr>
              <a:spcAft>
                <a:spcPts val="74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Fill known-volume container, weigh, compute density = weight / volume</a:t>
            </a:r>
          </a:p>
          <a:p>
            <a:pPr>
              <a:spcAft>
                <a:spcPts val="74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Water density = 62.4 PCF -- our concrete MUST be lighter</a:t>
            </a:r>
          </a:p>
          <a:p>
            <a:pPr>
              <a:spcAft>
                <a:spcPts val="74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Target range: 55-65 PCF for lightweight canoe concrete</a:t>
            </a:r>
          </a:p>
          <a:p>
            <a:pPr>
              <a:spcAft>
                <a:spcPts val="74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Lighter is better, but too light sacrifices strength</a:t>
            </a:r>
          </a:p>
          <a:p>
            <a:pPr>
              <a:spcAft>
                <a:spcPts val="74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Every aggregate substitution shifts density -- trade-off with strength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286000"/>
            <a:ext cx="3931920" cy="320040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4A843"/>
                </a:solidFill>
              </a:defRPr>
            </a:pPr>
            <a:r>
              <a:t>THRESHOLD</a:t>
            </a:r>
          </a:p>
          <a:p>
            <a:pPr algn="ctr">
              <a:defRPr sz="4400" b="1">
                <a:solidFill>
                  <a:srgbClr val="FFFFFF"/>
                </a:solidFill>
              </a:defRPr>
            </a:pPr>
            <a:r>
              <a:t>62.4 PCF</a:t>
            </a:r>
          </a:p>
          <a:p>
            <a:pPr algn="ctr">
              <a:defRPr sz="1800">
                <a:solidFill>
                  <a:srgbClr val="BBBBBB"/>
                </a:solidFill>
              </a:defRPr>
            </a:pPr>
            <a:r>
              <a:t>Density of Water</a:t>
            </a:r>
          </a:p>
          <a:p>
            <a:pPr>
              <a:defRPr sz="800"/>
            </a:pPr>
          </a:p>
          <a:p>
            <a:pPr algn="ctr">
              <a:defRPr sz="2000" b="1">
                <a:solidFill>
                  <a:srgbClr val="CC0000"/>
                </a:solidFill>
              </a:defRPr>
            </a:pPr>
            <a:r>
              <a:t>ABOVE = SINKS</a:t>
            </a:r>
          </a:p>
          <a:p>
            <a:pPr algn="ctr">
              <a:defRPr sz="2000" b="1">
                <a:solidFill>
                  <a:srgbClr val="00CC00"/>
                </a:solidFill>
              </a:defRPr>
            </a:pPr>
            <a:r>
              <a:t>BELOW = FLOATS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Speaker: Amit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ASTM C136: Sieve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Determines particle size distribution of aggregates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Stack of progressively finer sieves shaken mechanically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Weigh material retained on each sieve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Well-graded blend: reduces void space between particles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Fewer voids = less cement paste needed = lower density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Critical for our ultralight aggregates (perlite, K1, Poraver)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Sieve sizes: #4, #8, #16, #30, #50, #100, #200, 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Speaker: Kayleigh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ASTM C496: Split Tensile Strength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Splitting cylinder test: load cylinder on its side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Compressive line load induces transverse tension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Concrete is WEAK in tension -- typically ~10% of compressive strength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The bottom of the canoe hull is in tension under loading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This drives our reinforcement strategy (fiber mesh)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Formula: fct = 2P / (pi * L * 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931920" cy="2286000"/>
          </a:xfrm>
          <a:prstGeom prst="roundRect">
            <a:avLst/>
          </a:prstGeom>
          <a:solidFill>
            <a:srgbClr val="FFF0F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CC0000"/>
                </a:solidFill>
              </a:defRPr>
            </a:pPr>
            <a:r>
              <a:t>Why This Matters: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t>Canoe bottom is in TENSION under paddler weight. Concrete cracks in tension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Speaker: Amit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ASTM C685: Volumetric Batching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D4A843"/>
                </a:solidFill>
                <a:latin typeface="Calibri"/>
              </a:defRPr>
            </a:pPr>
            <a:r>
              <a:t>Proof of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Volumetric batching ensures consistent, repeatable mixes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Each ingredient measured by volume rather than weight for field practicality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Lab batching procedure documented step-by-step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Dust masks required during perlite and fly ash handling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Mix quantities scaled from lab trial (0.1 CY) to production (0.5 CY)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Graduate Instructor guidance: "Show proof, not just results"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754880"/>
            <a:ext cx="292608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[Lab Mixing Photo]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4754880"/>
            <a:ext cx="292608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[Cylinder Casting Photo]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4754880"/>
            <a:ext cx="292608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[Testing Photo]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Speaker: Kayleigh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Task 2.3: Mix Selection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00400" cy="228600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 Precursor</a:t>
            </a:r>
            <a:br/>
            <a:r>
              <a:t>Mixes</a:t>
            </a:r>
          </a:p>
          <a:p/>
          <a:p>
            <a:pPr algn="ctr">
              <a:defRPr sz="1600">
                <a:solidFill>
                  <a:srgbClr val="D4A843"/>
                </a:solidFill>
              </a:defRPr>
            </a:pPr>
            <a:r>
              <a:t>Literature review</a:t>
            </a:r>
            <a:br/>
            <a:r>
              <a:t>&amp; material screening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14800" y="2560320"/>
            <a:ext cx="640080" cy="457200"/>
          </a:xfrm>
          <a:prstGeom prst="rightArrow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0" y="1828800"/>
            <a:ext cx="3200400" cy="228600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 Trial</a:t>
            </a:r>
            <a:br/>
            <a:r>
              <a:t>Mixes</a:t>
            </a:r>
          </a:p>
          <a:p/>
          <a:p>
            <a:pPr algn="ctr">
              <a:defRPr sz="1600">
                <a:solidFill>
                  <a:srgbClr val="D4A843"/>
                </a:solidFill>
              </a:defRPr>
            </a:pPr>
            <a:r>
              <a:t>Lab-batched</a:t>
            </a:r>
            <a:br/>
            <a:r>
              <a:t>&amp; ASTM-tested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955279" y="2560320"/>
            <a:ext cx="640080" cy="457200"/>
          </a:xfrm>
          <a:prstGeom prst="rightArrow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0" y="1828800"/>
            <a:ext cx="3200400" cy="228600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Decision</a:t>
            </a:r>
            <a:br/>
            <a:r>
              <a:t>Matrix</a:t>
            </a:r>
          </a:p>
          <a:p/>
          <a:p>
            <a:pPr algn="ctr">
              <a:defRPr sz="1600">
                <a:solidFill>
                  <a:srgbClr val="D4A843"/>
                </a:solidFill>
              </a:defRPr>
            </a:pPr>
            <a:r>
              <a:t>Weighted criteria</a:t>
            </a:r>
            <a:br/>
            <a:r>
              <a:t>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4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Systematic approach: research-based precursors -&gt; lab testing -&gt; data-driven selection</a:t>
            </a:r>
          </a:p>
          <a:p>
            <a:pPr>
              <a:spcAft>
                <a:spcPts val="74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Each mix tested per ASTM C39, C143, C138, C496</a:t>
            </a:r>
          </a:p>
          <a:p>
            <a:pPr>
              <a:spcAft>
                <a:spcPts val="74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Decision matrix weighted by project priorities (density 30%, strength 25%, workability 20%, cost 15%, sustainability 10%)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Speaker: Theo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Mix 1: High-Strength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  <a:gridCol w="2743200"/>
                <a:gridCol w="2133295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Compressive Strength (7-day)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3,116 psi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&gt; 250 psi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Tensile Strength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385 psi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&gt; 40 psi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Density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78.4 PCF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&lt; 62.4 PCF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CC0000"/>
                          </a:solidFill>
                          <a:latin typeface="Calibri"/>
                        </a:defRPr>
                      </a:pPr>
                      <a:r>
                        <a:t>FAIL</a:t>
                      </a:r>
                    </a:p>
                  </a:txBody>
                  <a:tcPr anchor="ctr">
                    <a:solidFill>
                      <a:srgbClr val="FFCC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Slump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1.5"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4-7"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MARGINAL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286000" y="4114800"/>
            <a:ext cx="7619695" cy="1828800"/>
          </a:xfrm>
          <a:prstGeom prst="roundRect">
            <a:avLst/>
          </a:prstGeom>
          <a:solidFill>
            <a:srgbClr val="FFE0E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CC0000"/>
                </a:solidFill>
              </a:defRPr>
            </a:pPr>
            <a:r>
              <a:t>DENSITY FAILURE: 78.4 PCF &gt; 62.4 PCF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This mix would SINK. Strong but way too heavy.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Speaker: Theo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Mix 2: Slag Cement Addition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7729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2743200"/>
                <a:gridCol w="2590495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Mix 1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Mix 2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Compressive (7-day)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3,116 psi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~2,800 psi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Slight decrease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Density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78.4 PCF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83.6 PCF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CC0000"/>
                          </a:solidFill>
                          <a:latin typeface="Calibri"/>
                        </a:defRPr>
                      </a:pPr>
                      <a:r>
                        <a:t>WORSE (+5.2)</a:t>
                      </a:r>
                    </a:p>
                  </a:txBody>
                  <a:tcPr anchor="ctr">
                    <a:solidFill>
                      <a:srgbClr val="FFCCC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Slump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1.5"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2.0"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Additive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Slag cement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Added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2976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Slag cement improved workability (slump: 1.5" -&gt; 2.0")</a:t>
            </a:r>
          </a:p>
          <a:p>
            <a:pPr>
              <a:spcAft>
                <a:spcPts val="800"/>
              </a:spcAft>
              <a:defRPr sz="2000" b="1">
                <a:solidFill>
                  <a:srgbClr val="CC0000"/>
                </a:solidFill>
                <a:latin typeface="Calibri"/>
              </a:defRPr>
            </a:pPr>
            <a:r>
              <a:t>• But density got WORSE: 83.6 PCF (even heavier than Mix 1)</a:t>
            </a:r>
          </a:p>
          <a:p>
            <a:pPr>
              <a:spcAft>
                <a:spcPts val="8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Trade-off lesson: slag helps workability but hurts density</a:t>
            </a:r>
          </a:p>
          <a:p>
            <a:pPr>
              <a:spcAft>
                <a:spcPts val="800"/>
              </a:spcAft>
              <a:defRPr sz="2000" b="1">
                <a:solidFill>
                  <a:srgbClr val="1B365D"/>
                </a:solidFill>
                <a:latin typeface="Calibri"/>
              </a:defRPr>
            </a:pPr>
            <a:r>
              <a:t>• Key insight: must change AGGREGATES, not just cementitious materials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Speaker: Theo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Mix 3: Lightweight Breakthrough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D4A843"/>
                </a:solidFill>
                <a:latin typeface="Calibri"/>
              </a:defRPr>
            </a:pPr>
            <a:r>
              <a:t>MOST IMPORTANT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B365D"/>
                </a:solidFill>
                <a:latin typeface="Calibri"/>
              </a:defRPr>
            </a:pPr>
            <a:r>
              <a:t>Key Changes from Mix 1/2: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4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Portland cement cut in HALF: 97 lbs vs 209 lbs</a:t>
            </a:r>
          </a:p>
          <a:p>
            <a:pPr>
              <a:spcAft>
                <a:spcPts val="74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Added fly ash as supplementary cementitious material</a:t>
            </a:r>
          </a:p>
          <a:p>
            <a:pPr>
              <a:spcAft>
                <a:spcPts val="74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Increased perlite and K1 microsphere content</a:t>
            </a:r>
          </a:p>
          <a:p>
            <a:pPr>
              <a:spcAft>
                <a:spcPts val="74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Result: dramatically lower density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65760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Density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8800"/>
                          </a:solidFill>
                          <a:latin typeface="Calibri"/>
                        </a:defRPr>
                      </a:pPr>
                      <a:r>
                        <a:t>58.6 PCF</a:t>
                      </a:r>
                    </a:p>
                  </a:txBody>
                  <a:tcPr anchor="ctr">
                    <a:solidFill>
                      <a:srgbClr val="D0FF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&lt; 62.4 PCF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Compressive (7-day)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307 psi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&gt; 250 psi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Slump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6.0"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4-7"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$1,200/CY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Minimize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0" y="1371600"/>
            <a:ext cx="5303520" cy="2743200"/>
          </a:xfrm>
          <a:prstGeom prst="roundRect">
            <a:avLst/>
          </a:prstGeom>
          <a:solidFill>
            <a:srgbClr val="E0FFE0"/>
          </a:solidFill>
          <a:ln>
            <a:solidFill>
              <a:srgbClr val="00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08800"/>
                </a:solidFill>
              </a:defRPr>
            </a:pPr>
            <a:r>
              <a:t>IT FLOATS!</a:t>
            </a:r>
          </a:p>
          <a:p/>
          <a:p>
            <a:pPr algn="ctr">
              <a:defRPr sz="2800" b="1">
                <a:solidFill>
                  <a:srgbClr val="1B365D"/>
                </a:solidFill>
              </a:defRPr>
            </a:pPr>
            <a:r>
              <a:t>58.6 PCF &lt; 62.4 PCF</a:t>
            </a:r>
          </a:p>
          <a:p/>
          <a:p>
            <a:pPr algn="ctr">
              <a:defRPr sz="1800">
                <a:solidFill>
                  <a:srgbClr val="333333"/>
                </a:solidFill>
              </a:defRPr>
            </a:pPr>
            <a:r>
              <a:t>Density below water threshold</a:t>
            </a:r>
          </a:p>
        </p:txBody>
      </p:sp>
      <p:pic>
        <p:nvPicPr>
          <p:cNvPr id="10" name="Picture 9" descr="mix_composi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206240"/>
            <a:ext cx="5303520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Speaker: Theo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Task 2.4: Decision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40"/>
              </a:spcAft>
              <a:defRPr sz="1800" b="1">
                <a:solidFill>
                  <a:srgbClr val="1B365D"/>
                </a:solidFill>
                <a:latin typeface="Calibri"/>
              </a:defRPr>
            </a:pPr>
            <a:r>
              <a:t>• Density weighted 30% -- floating is non-negotiable</a:t>
            </a:r>
          </a:p>
          <a:p>
            <a:pPr>
              <a:spcAft>
                <a:spcPts val="74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Compressive strength: 25%</a:t>
            </a:r>
          </a:p>
          <a:p>
            <a:pPr>
              <a:spcAft>
                <a:spcPts val="74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Workability: 20%</a:t>
            </a:r>
          </a:p>
          <a:p>
            <a:pPr>
              <a:spcAft>
                <a:spcPts val="74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Cost: 15%</a:t>
            </a:r>
          </a:p>
          <a:p>
            <a:pPr>
              <a:spcAft>
                <a:spcPts val="74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Sustainability: 10%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84048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Mix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Mix 1: 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65.20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Mix 2: Slag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73.53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1st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Mix 3: Lightweight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70.07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mix_deci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Speaker: Theo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Selected Approach: Optimized Mix 2 + Mix 3 Aggregates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1277295" cy="2286000"/>
          </a:xfrm>
          <a:prstGeom prst="roundRect">
            <a:avLst/>
          </a:prstGeom>
          <a:solidFill>
            <a:srgbClr val="F5F0E0"/>
          </a:solidFill>
          <a:ln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B365D"/>
                </a:solidFill>
              </a:defRPr>
            </a:pPr>
            <a:r>
              <a:t>Strategy: Combine Mix 2's cementitious system with Mix 3's aggregate ratios</a:t>
            </a:r>
          </a:p>
          <a:p/>
          <a:p>
            <a:pPr algn="ctr">
              <a:defRPr sz="1800">
                <a:solidFill>
                  <a:srgbClr val="333333"/>
                </a:solidFill>
              </a:defRPr>
            </a:pPr>
            <a:r>
              <a:t>Mix 2 brings workability and strength from slag cement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Mix 3 brings the lightweight aggregate ratios that achieved 58.6 PCF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B365D"/>
                </a:solidFill>
                <a:latin typeface="Calibri"/>
              </a:defRPr>
            </a:pPr>
            <a:r>
              <a:t>Next Steps for Mix Optimization: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4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Target: bring density below 62.4 PCF while maintaining strength &gt; 250 psi</a:t>
            </a:r>
          </a:p>
          <a:p>
            <a:pPr>
              <a:spcAft>
                <a:spcPts val="74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Optimize perlite/K1 ratio for best density-strength trade-off</a:t>
            </a:r>
          </a:p>
          <a:p>
            <a:pPr>
              <a:spcAft>
                <a:spcPts val="74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Test 28-day strength (expect significant gains over 7-day)</a:t>
            </a:r>
          </a:p>
          <a:p>
            <a:pPr>
              <a:spcAft>
                <a:spcPts val="74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Scale from 0.1 CY trial batch to 0.5 CY production batch</a:t>
            </a:r>
          </a:p>
          <a:p>
            <a:pPr>
              <a:spcAft>
                <a:spcPts val="74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Finalize mix design by March 1 for construction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Speaker: Theo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Task 3.1: Hull Design -- Design Criteria &amp; Preliminary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D4A843"/>
                </a:solidFill>
                <a:latin typeface="Calibri"/>
              </a:defRPr>
            </a:pPr>
            <a:r>
              <a:t>CRITICAL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B365D"/>
                </a:solidFill>
                <a:latin typeface="Calibri"/>
              </a:defRPr>
            </a:pPr>
            <a:r>
              <a:t>ASCE 2026 Requirements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82880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74320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Requirement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Freeboard (4-person)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&gt;= 6.0"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Metacentric Height (GM)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&gt;= 6.0"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Safety Factor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&gt;= 2.0 (ACI 318-25 LRFD)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Punching Shear DCR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&lt; 1.0 (ACI 22.6.5.2)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Density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&lt; 62.4 PCF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B365D"/>
                </a:solidFill>
                <a:latin typeface="Calibri"/>
              </a:defRPr>
            </a:pPr>
            <a:r>
              <a:t>Candidate Design Results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82880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37160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Dimensions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216" x 36" x 18"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Thickness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0.75"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Weight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~318 lbs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Freeboard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12.82"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8800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D0FFD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Metacentric 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15.34"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8800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D0FFD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Safety Factor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6.39</a:t>
                      </a:r>
                    </a:p>
                  </a:txBody>
                  <a:tcPr anchor="ctr"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8800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D0FFD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Punch DCR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0.189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8800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D0FFD0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solidworks_3d_dimensio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120640"/>
            <a:ext cx="5029200" cy="1463040"/>
          </a:xfrm>
          <a:prstGeom prst="rect">
            <a:avLst/>
          </a:prstGeom>
        </p:spPr>
      </p:pic>
      <p:pic>
        <p:nvPicPr>
          <p:cNvPr id="11" name="Picture 10" descr="report_fig1_fbd_buoya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5120640"/>
            <a:ext cx="3657600" cy="1463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Structural analysis per ACI 318-25 LRFD. Cross-checked: Python v2.1 + Excel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Speaker: Trevion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Structural Analysis -- FBD &amp; Section Properties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port_fig1_fbd_buoya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315200" cy="4114800"/>
          </a:xfrm>
          <a:prstGeom prst="rect">
            <a:avLst/>
          </a:prstGeom>
        </p:spPr>
      </p:pic>
      <p:pic>
        <p:nvPicPr>
          <p:cNvPr id="6" name="Picture 5" descr="report_fig2_moi_rectang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371600"/>
            <a:ext cx="36576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7548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333333"/>
                </a:solidFill>
                <a:latin typeface="Calibri"/>
              </a:defRPr>
            </a:pPr>
            <a:r>
              <a:t>Parallel axis theorem applied</a:t>
            </a:r>
            <a:br/>
            <a:r>
              <a:t>to U-shell cross section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B365D"/>
                </a:solidFill>
                <a:latin typeface="Calibri"/>
              </a:defRPr>
            </a:pPr>
            <a:r>
              <a:t>Full structural analysis with shear/moment diagrams at 60%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Speaker: Trevion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3D Hull Model -- SolidWorks Dimensions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lidworks_3d_dimensio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Speaker: Trevion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[1]  ACI 318-25, Building Code Requirements for Structural Concrete, ACI, 2025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[2]  ASCE 2026 Concrete Canoe Competition Rules &amp; Regulations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[3]  ASTM C39/C39M-21, Standard Test Method for Compressive Strength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[4]  ASTM C143/C143M-20, Standard Test Method for Slump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[5]  ASTM C138/C138M-17a, Standard Test Method for Unit Weight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[6]  ASTM C136/C136M-19, Standard Test Method for Sieve Analysis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[7]  ASTM C496/C496M-17, Standard Test Method for Splitting Tensile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[8]  ASTM C685/C685M-17, Standard Specification for Volumetric Batching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[9]  Lewis, E.V., Principles of Naval Architecture, SNAME, 1988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[10] Beer, Johnston, DeWolf, Mechanics of Materials, 8th 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Speaker: Theo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